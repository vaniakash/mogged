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4FC3F7">
              <a:alpha val="18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926080"/>
            <a:ext cx="2011680" cy="2011680"/>
          </a:xfrm>
          <a:prstGeom prst="ellipse">
            <a:avLst/>
          </a:prstGeom>
          <a:solidFill>
            <a:srgbClr val="F9C74F">
              <a:alpha val="12000"/>
            </a:srgbClr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04288"/>
            <a:ext cx="256032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FC3F7"/>
                </a:solidFill>
              </a:rPr>
              <a:t>PITCH DECK  · 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The Future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</a:rPr>
              <a:t>of Artificial Intelligence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C1"/>
                </a:solidFill>
              </a:rPr>
              <a:t>How AI is reshaping industries, economies, and human potential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440"/>
          </a:solidFill>
          <a:ln w="12700">
            <a:solidFill>
              <a:srgbClr val="0D144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4FC3F7"/>
                </a:solidFill>
              </a:rPr>
              <a:t>AGENDA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We'll Cover Today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75488" cy="475488"/>
          </a:xfrm>
          <a:prstGeom prst="ellipse">
            <a:avLst/>
          </a:prstGeom>
          <a:solidFill>
            <a:srgbClr val="4FC3F7">
              <a:alpha val="8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Market Landscape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1"/>
                </a:solidFill>
              </a:rPr>
              <a:t>The current state of AI adoption globally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8412480" cy="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12848"/>
            <a:ext cx="475488" cy="475488"/>
          </a:xfrm>
          <a:prstGeom prst="ellipse">
            <a:avLst/>
          </a:prstGeom>
          <a:solidFill>
            <a:srgbClr val="4FC3F7">
              <a:alpha val="8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167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Trends for 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44144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1"/>
                </a:solidFill>
              </a:rPr>
              <a:t>Multimodal models, agentic AI, and edge inference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761488"/>
            <a:ext cx="8412480" cy="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475488" cy="475488"/>
          </a:xfrm>
          <a:prstGeom prst="ellipse">
            <a:avLst/>
          </a:prstGeom>
          <a:solidFill>
            <a:srgbClr val="4FC3F7">
              <a:alpha val="8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71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28254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Industry Impact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099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1"/>
                </a:solidFill>
              </a:rPr>
              <a:t>Healthcare, finance, education &amp; manufacturing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419856"/>
            <a:ext cx="8412480" cy="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529584"/>
            <a:ext cx="475488" cy="475488"/>
          </a:xfrm>
          <a:prstGeom prst="ellipse">
            <a:avLst/>
          </a:prstGeom>
          <a:solidFill>
            <a:srgbClr val="4FC3F7">
              <a:alpha val="8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29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3483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Our Vision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75818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1"/>
                </a:solidFill>
              </a:rPr>
              <a:t>Where we are heading and why it matters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078224"/>
            <a:ext cx="8412480" cy="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187952"/>
            <a:ext cx="475488" cy="475488"/>
          </a:xfrm>
          <a:prstGeom prst="ellipse">
            <a:avLst/>
          </a:prstGeom>
          <a:solidFill>
            <a:srgbClr val="4FC3F7">
              <a:alpha val="8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5840" y="41422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Call to Action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4165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1"/>
                </a:solidFill>
              </a:rPr>
              <a:t>Partner with us to build the future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440"/>
          </a:solidFill>
          <a:ln w="12700">
            <a:solidFill>
              <a:srgbClr val="0D14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C1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FC3F7"/>
                </a:solidFill>
              </a:rPr>
              <a:t>MARKET LANDSCAPE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 is the defining technology of our era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27432"/>
          </a:xfrm>
          <a:prstGeom prst="rect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2651760" cy="2606040"/>
          </a:xfrm>
          <a:prstGeom prst="roundRect">
            <a:avLst>
              <a:gd name="adj" fmla="val 4211"/>
            </a:avLst>
          </a:prstGeom>
          <a:solidFill>
            <a:srgbClr val="0D1440"/>
          </a:solidFill>
          <a:ln w="1016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💹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C74F"/>
                </a:solidFill>
              </a:rPr>
              <a:t>$1.8T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" y="28803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Global AI Market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by 2030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51760" cy="2606040"/>
          </a:xfrm>
          <a:prstGeom prst="roundRect">
            <a:avLst>
              <a:gd name="adj" fmla="val 4211"/>
            </a:avLst>
          </a:prstGeom>
          <a:solidFill>
            <a:srgbClr val="0D1440"/>
          </a:solidFill>
          <a:ln w="1016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600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🏢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91840" y="2057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C74F"/>
                </a:solidFill>
              </a:rPr>
              <a:t>73%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91840" y="28803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Enterprises actively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deploying 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651760" cy="2606040"/>
          </a:xfrm>
          <a:prstGeom prst="roundRect">
            <a:avLst>
              <a:gd name="adj" fmla="val 4211"/>
            </a:avLst>
          </a:prstGeom>
          <a:solidFill>
            <a:srgbClr val="0D1440"/>
          </a:solidFill>
          <a:ln w="1016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600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17920" y="2057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C74F"/>
                </a:solidFill>
              </a:rPr>
              <a:t>300M+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217920" y="28803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Jobs transformed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by 2028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FA3C1"/>
                </a:solidFill>
              </a:rPr>
              <a:t>Sources: McKinsey Global Institute, IDC, World Economic Forum (2025)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440"/>
          </a:solidFill>
          <a:ln w="12700">
            <a:solidFill>
              <a:srgbClr val="0D14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C1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FC3F7"/>
                </a:solidFill>
              </a:rPr>
              <a:t>KEY TRENDS FOR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Forces reshaping the AI ecosystem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0" y="1280160"/>
            <a:ext cx="27432" cy="320040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3350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C74F"/>
                </a:solidFill>
              </a:rPr>
              <a:t>Agentic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75564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AI systems that plan, reason, and act autonomously across complex multi-step tasks without constant human oversight.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8895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C74F"/>
                </a:solidFill>
              </a:rPr>
              <a:t>Multimodal Models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31012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Next-gen models that seamlessly understand text, images, audio, video, and structured data in a unified context.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6344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57800" y="13350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C74F"/>
                </a:solidFill>
              </a:rPr>
              <a:t>Edge Inference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175564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On-device AI running privately on phones, laptops, and IoT hardware — no cloud dependency required.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6344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57800" y="28895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C74F"/>
                </a:solidFill>
              </a:rPr>
              <a:t>AI Safety &amp; Alignment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331012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Enterprise-grade guardrails, red-teaming, constitutional AI, and regulatory frameworks (EU AI Act, NIST).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440"/>
          </a:solidFill>
          <a:ln w="12700">
            <a:solidFill>
              <a:srgbClr val="0D14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C1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FC3F7"/>
                </a:solidFill>
              </a:rPr>
              <a:t>INDUSTRY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Sectors being transformed right now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0D1440"/>
          </a:solidFill>
          <a:ln w="1524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35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</a:rPr>
              <a:t>🏥  Healthcare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19656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</a:rPr>
              <a:t>Early disease detection via imaging AI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</a:rPr>
              <a:t>Drug discovery 10× faster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</a:rPr>
              <a:t>Personalised treatment plans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0D1440"/>
          </a:solidFill>
          <a:ln w="15240">
            <a:solidFill>
              <a:srgbClr val="F9C7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435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C74F"/>
                </a:solidFill>
              </a:rPr>
              <a:t>🏦  Finance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819656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</a:rPr>
              <a:t>Real-time fraud detection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</a:rPr>
              <a:t>AI-driven trading &amp; risk models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</a:rPr>
              <a:t>Hyper-personalised banking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999232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0D1440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🎓  Education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4930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</a:rPr>
              <a:t>Adaptive learning at scale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</a:rPr>
              <a:t>AI tutors available 24/7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</a:rPr>
              <a:t>Automated grading &amp; feedback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2999232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0D1440"/>
          </a:solidFill>
          <a:ln w="15240">
            <a:solidFill>
              <a:srgbClr val="F77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7F00"/>
                </a:solidFill>
              </a:rPr>
              <a:t>🏭  Manufacturing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4930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</a:rPr>
              <a:t>Predictive maintenance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</a:rPr>
              <a:t>Defect detection &gt;99% accuracy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</a:rPr>
              <a:t>Autonomous supply chains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440"/>
          </a:solidFill>
          <a:ln w="12700">
            <a:solidFill>
              <a:srgbClr val="0D14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C1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FC3F7"/>
                </a:solidFill>
              </a:rPr>
              <a:t>OUR VISION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 roadmap to human-AI collaboration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8229600" cy="36576"/>
          </a:xfrm>
          <a:prstGeom prst="rect">
            <a:avLst/>
          </a:prstGeom>
          <a:solidFill>
            <a:srgbClr val="4FC3F7">
              <a:alpha val="7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176272"/>
            <a:ext cx="320040" cy="3200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786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2024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07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Foundation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C1"/>
                </a:solidFill>
              </a:rPr>
              <a:t>GPT-4, Claude 3, Gemini Ultra launch — multimodal era begins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4FC3F7"/>
                </a:solidFill>
              </a:rPr>
              <a:t>FOUNDATION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43000" y="2176272"/>
            <a:ext cx="0" cy="-548640"/>
          </a:xfrm>
          <a:prstGeom prst="line">
            <a:avLst/>
          </a:prstGeom>
          <a:noFill/>
          <a:ln w="12700">
            <a:solidFill>
              <a:srgbClr val="4FC3F7"/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>
            <a:off x="3063240" y="2176272"/>
            <a:ext cx="320040" cy="32004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25786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C74F"/>
                </a:solidFill>
              </a:rPr>
              <a:t>2025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2907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Adoption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32461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C1"/>
                </a:solidFill>
              </a:rPr>
              <a:t>Agentic workflows deployed at Fortune 500 scale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14600" y="1097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9C74F"/>
                </a:solidFill>
              </a:rPr>
              <a:t>ADOPTION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0" y="2176272"/>
            <a:ext cx="0" cy="-502920"/>
          </a:xfrm>
          <a:prstGeom prst="line">
            <a:avLst/>
          </a:prstGeom>
          <a:noFill/>
          <a:ln w="12700">
            <a:solidFill>
              <a:srgbClr val="F9C74F"/>
            </a:solidFill>
            <a:prstDash val="sysDot"/>
          </a:ln>
        </p:spPr>
      </p:sp>
      <p:sp>
        <p:nvSpPr>
          <p:cNvPr id="18" name="Shape 16"/>
          <p:cNvSpPr/>
          <p:nvPr/>
        </p:nvSpPr>
        <p:spPr>
          <a:xfrm>
            <a:off x="5120640" y="2176272"/>
            <a:ext cx="320040" cy="3200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25786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2026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2907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32461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C1"/>
                </a:solidFill>
              </a:rPr>
              <a:t>AI embedded in every software product and workflow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0" y="1463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78BFA"/>
                </a:solidFill>
              </a:rPr>
              <a:t>INTEGRATION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257800" y="2176272"/>
            <a:ext cx="0" cy="-548640"/>
          </a:xfrm>
          <a:prstGeom prst="line">
            <a:avLst/>
          </a:prstGeom>
          <a:noFill/>
          <a:ln w="12700">
            <a:solidFill>
              <a:srgbClr val="A78BFA"/>
            </a:solidFill>
            <a:prstDash val="sysDot"/>
          </a:ln>
        </p:spPr>
      </p:sp>
      <p:sp>
        <p:nvSpPr>
          <p:cNvPr id="24" name="Shape 22"/>
          <p:cNvSpPr/>
          <p:nvPr/>
        </p:nvSpPr>
        <p:spPr>
          <a:xfrm>
            <a:off x="7178040" y="2176272"/>
            <a:ext cx="320040" cy="3200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25786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2028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29400" y="2907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Symbiosis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32461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C1"/>
                </a:solidFill>
              </a:rPr>
              <a:t>Human + AI teams outperform either alone in every domain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629400" y="1097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EC4B6"/>
                </a:solidFill>
              </a:rPr>
              <a:t>SYMBIOSIS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315200" y="2176272"/>
            <a:ext cx="0" cy="-502920"/>
          </a:xfrm>
          <a:prstGeom prst="line">
            <a:avLst/>
          </a:prstGeom>
          <a:noFill/>
          <a:ln w="12700">
            <a:solidFill>
              <a:srgbClr val="2EC4B6"/>
            </a:solidFill>
            <a:prstDash val="sysDot"/>
          </a:ln>
        </p:spPr>
      </p:sp>
      <p:sp>
        <p:nvSpPr>
          <p:cNvPr id="30" name="Shape 2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440"/>
          </a:solidFill>
          <a:ln w="12700">
            <a:solidFill>
              <a:srgbClr val="0D14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C1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-1097280"/>
            <a:ext cx="5029200" cy="5029200"/>
          </a:xfrm>
          <a:prstGeom prst="ellipse">
            <a:avLst/>
          </a:prstGeom>
          <a:solidFill>
            <a:srgbClr val="4FC3F7">
              <a:alpha val="1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2560320"/>
            <a:ext cx="3657600" cy="3657600"/>
          </a:xfrm>
          <a:prstGeom prst="ellipse">
            <a:avLst/>
          </a:prstGeom>
          <a:solidFill>
            <a:srgbClr val="F9C74F">
              <a:alpha val="8000"/>
            </a:srgbClr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C3F7"/>
                </a:solidFill>
              </a:rPr>
              <a:t>READY TO BUILD THE FUTURE?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Let's partner together.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The AI revolution is not a future event — it's happening now.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Organizations that act today will define tomorrow's landscape.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375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Get In Touch 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333756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0D1440"/>
          </a:solidFill>
          <a:ln w="1524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3375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View Demo →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1"/>
                </a:solidFill>
              </a:rPr>
              <a:t>hello@aifuture.io  ·  aifuture.io  ·  @aifuture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440"/>
          </a:solidFill>
          <a:ln w="12700">
            <a:solidFill>
              <a:srgbClr val="0D14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C1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Future of AI — 2026 Outlook</dc:title>
  <dc:subject>PptxGenJS Presentation</dc:subject>
  <dc:creator>PPTX Skill Demo</dc:creator>
  <cp:lastModifiedBy>PPTX Skill Demo</cp:lastModifiedBy>
  <cp:revision>1</cp:revision>
  <dcterms:created xsi:type="dcterms:W3CDTF">2026-05-24T02:47:03Z</dcterms:created>
  <dcterms:modified xsi:type="dcterms:W3CDTF">2026-05-24T02:47:03Z</dcterms:modified>
</cp:coreProperties>
</file>